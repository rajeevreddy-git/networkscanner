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6"/>
  </p:notesMasterIdLst>
  <p:handoutMasterIdLst>
    <p:handoutMasterId r:id="rId17"/>
  </p:handoutMasterIdLst>
  <p:sldIdLst>
    <p:sldId id="338" r:id="rId5"/>
    <p:sldId id="327" r:id="rId6"/>
    <p:sldId id="315" r:id="rId7"/>
    <p:sldId id="329" r:id="rId8"/>
    <p:sldId id="302" r:id="rId9"/>
    <p:sldId id="339" r:id="rId10"/>
    <p:sldId id="340" r:id="rId11"/>
    <p:sldId id="341" r:id="rId12"/>
    <p:sldId id="342" r:id="rId13"/>
    <p:sldId id="344"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63" d="100"/>
          <a:sy n="63" d="100"/>
        </p:scale>
        <p:origin x="724" y="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3/30/2026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3/30/2026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3/30/2026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3/30/2026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3/30/2026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3/30/2026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hyperlink" Target="https://github.com/Rajeevreddy-git/NetworkScanner.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Rajeevreddy-git/NetworkScanner.git" TargetMode="External"/><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802169" y="3202503"/>
            <a:ext cx="3400089" cy="861497"/>
          </a:xfrm>
        </p:spPr>
        <p:txBody>
          <a:bodyPr/>
          <a:lstStyle/>
          <a:p>
            <a:pPr algn="r"/>
            <a:r>
              <a:rPr lang="en-US" b="0" dirty="0">
                <a:solidFill>
                  <a:schemeClr val="tx1"/>
                </a:solidFill>
              </a:rPr>
              <a:t>RAJEEV REDDY GARLAPATI</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164790" y="2294396"/>
            <a:ext cx="6590329" cy="743448"/>
          </a:xfrm>
        </p:spPr>
        <p:txBody>
          <a:bodyPr>
            <a:normAutofit fontScale="90000"/>
          </a:bodyPr>
          <a:lstStyle/>
          <a:p>
            <a:r>
              <a:rPr lang="en-GB" sz="3200" dirty="0"/>
              <a:t>Project Title - Network Port Scanner</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7" name="Text Placeholder 1">
            <a:extLst>
              <a:ext uri="{FF2B5EF4-FFF2-40B4-BE49-F238E27FC236}">
                <a16:creationId xmlns:a16="http://schemas.microsoft.com/office/drawing/2014/main" id="{824B8A32-9AB3-457E-82E1-C85D3203CE35}"/>
              </a:ext>
            </a:extLst>
          </p:cNvPr>
          <p:cNvSpPr txBox="1">
            <a:spLocks/>
          </p:cNvSpPr>
          <p:nvPr/>
        </p:nvSpPr>
        <p:spPr>
          <a:xfrm>
            <a:off x="6553200" y="29464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8" name="Text Placeholder 1">
            <a:extLst>
              <a:ext uri="{FF2B5EF4-FFF2-40B4-BE49-F238E27FC236}">
                <a16:creationId xmlns:a16="http://schemas.microsoft.com/office/drawing/2014/main" id="{824B8A32-9AB3-457E-82E1-C85D3203CE35}"/>
              </a:ext>
            </a:extLst>
          </p:cNvPr>
          <p:cNvSpPr txBox="1">
            <a:spLocks/>
          </p:cNvSpPr>
          <p:nvPr/>
        </p:nvSpPr>
        <p:spPr>
          <a:xfrm>
            <a:off x="6705600" y="30988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sp>
        <p:nvSpPr>
          <p:cNvPr id="3" name="Text Placeholder 1">
            <a:extLst>
              <a:ext uri="{FF2B5EF4-FFF2-40B4-BE49-F238E27FC236}">
                <a16:creationId xmlns:a16="http://schemas.microsoft.com/office/drawing/2014/main" id="{F66C6EBB-597F-CEA2-E411-D8210E2B116D}"/>
              </a:ext>
            </a:extLst>
          </p:cNvPr>
          <p:cNvSpPr txBox="1">
            <a:spLocks/>
          </p:cNvSpPr>
          <p:nvPr/>
        </p:nvSpPr>
        <p:spPr>
          <a:xfrm>
            <a:off x="5066515" y="4359129"/>
            <a:ext cx="5764045"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US" b="0" dirty="0">
                <a:solidFill>
                  <a:schemeClr val="tx1"/>
                </a:solidFill>
              </a:rPr>
              <a:t>Siddhartha Institute of Engineering &amp; Technology</a:t>
            </a:r>
            <a:endParaRPr lang="en-IN" b="0" dirty="0">
              <a:solidFill>
                <a:schemeClr val="tx1"/>
              </a:solidFill>
            </a:endParaRPr>
          </a:p>
        </p:txBody>
      </p:sp>
      <p:sp>
        <p:nvSpPr>
          <p:cNvPr id="9" name="Text Placeholder 1">
            <a:extLst>
              <a:ext uri="{FF2B5EF4-FFF2-40B4-BE49-F238E27FC236}">
                <a16:creationId xmlns:a16="http://schemas.microsoft.com/office/drawing/2014/main" id="{8D468F96-767D-7AE9-4D4B-514C52317D97}"/>
              </a:ext>
            </a:extLst>
          </p:cNvPr>
          <p:cNvSpPr txBox="1">
            <a:spLocks/>
          </p:cNvSpPr>
          <p:nvPr/>
        </p:nvSpPr>
        <p:spPr>
          <a:xfrm>
            <a:off x="3866496" y="3824678"/>
            <a:ext cx="4830464"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r"/>
            <a:r>
              <a:rPr lang="en-IN" b="0" dirty="0">
                <a:solidFill>
                  <a:schemeClr val="tx1">
                    <a:lumMod val="85000"/>
                    <a:lumOff val="15000"/>
                  </a:schemeClr>
                </a:solidFill>
              </a:rPr>
              <a:t>STU67dafcd979fe11742404825</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grpId="0" nodeType="clickEffect" nodePh="1">
                                  <p:stCondLst>
                                    <p:cond delay="0"/>
                                  </p:stCondLst>
                                  <p:endCondLst>
                                    <p:cond evt="begin" delay="0">
                                      <p:tn val="35"/>
                                    </p:cond>
                                  </p:endCondLst>
                                  <p:childTnLst>
                                    <p:set>
                                      <p:cBhvr>
                                        <p:cTn id="36" dur="1" fill="hold">
                                          <p:stCondLst>
                                            <p:cond delay="0"/>
                                          </p:stCondLst>
                                        </p:cTn>
                                        <p:tgtEl>
                                          <p:spTgt spid="7"/>
                                        </p:tgtEl>
                                        <p:attrNameLst>
                                          <p:attrName>style.visibility</p:attrName>
                                        </p:attrNameLst>
                                      </p:cBhvr>
                                      <p:to>
                                        <p:strVal val="visible"/>
                                      </p:to>
                                    </p:set>
                                    <p:anim calcmode="lin" valueType="num">
                                      <p:cBhvr>
                                        <p:cTn id="37" dur="500" fill="hold"/>
                                        <p:tgtEl>
                                          <p:spTgt spid="7"/>
                                        </p:tgtEl>
                                        <p:attrNameLst>
                                          <p:attrName>ppt_w</p:attrName>
                                        </p:attrNameLst>
                                      </p:cBhvr>
                                      <p:tavLst>
                                        <p:tav tm="0">
                                          <p:val>
                                            <p:fltVal val="0"/>
                                          </p:val>
                                        </p:tav>
                                        <p:tav tm="100000">
                                          <p:val>
                                            <p:strVal val="#ppt_w"/>
                                          </p:val>
                                        </p:tav>
                                      </p:tavLst>
                                    </p:anim>
                                    <p:anim calcmode="lin" valueType="num">
                                      <p:cBhvr>
                                        <p:cTn id="38" dur="500" fill="hold"/>
                                        <p:tgtEl>
                                          <p:spTgt spid="7"/>
                                        </p:tgtEl>
                                        <p:attrNameLst>
                                          <p:attrName>ppt_h</p:attrName>
                                        </p:attrNameLst>
                                      </p:cBhvr>
                                      <p:tavLst>
                                        <p:tav tm="0">
                                          <p:val>
                                            <p:fltVal val="0"/>
                                          </p:val>
                                        </p:tav>
                                        <p:tav tm="100000">
                                          <p:val>
                                            <p:strVal val="#ppt_h"/>
                                          </p:val>
                                        </p:tav>
                                      </p:tavLst>
                                    </p:anim>
                                    <p:animEffect transition="in" filter="fade">
                                      <p:cBhvr>
                                        <p:cTn id="39" dur="500"/>
                                        <p:tgtEl>
                                          <p:spTgt spid="7"/>
                                        </p:tgtEl>
                                      </p:cBhvr>
                                    </p:animEffect>
                                  </p:childTnLst>
                                </p:cTn>
                              </p:par>
                            </p:childTnLst>
                          </p:cTn>
                        </p:par>
                      </p:childTnLst>
                    </p:cTn>
                  </p:par>
                  <p:par>
                    <p:cTn id="40" fill="hold">
                      <p:stCondLst>
                        <p:cond delay="indefinite"/>
                      </p:stCondLst>
                      <p:childTnLst>
                        <p:par>
                          <p:cTn id="41" fill="hold">
                            <p:stCondLst>
                              <p:cond delay="0"/>
                            </p:stCondLst>
                            <p:childTnLst>
                              <p:par>
                                <p:cTn id="42" presetID="53" presetClass="entr" presetSubtype="16" fill="hold" grpId="0" nodeType="clickEffect" nodePh="1">
                                  <p:stCondLst>
                                    <p:cond delay="0"/>
                                  </p:stCondLst>
                                  <p:endCondLst>
                                    <p:cond evt="begin" delay="0">
                                      <p:tn val="42"/>
                                    </p:cond>
                                  </p:endCondLst>
                                  <p:childTnLst>
                                    <p:set>
                                      <p:cBhvr>
                                        <p:cTn id="43" dur="1" fill="hold">
                                          <p:stCondLst>
                                            <p:cond delay="0"/>
                                          </p:stCondLst>
                                        </p:cTn>
                                        <p:tgtEl>
                                          <p:spTgt spid="8"/>
                                        </p:tgtEl>
                                        <p:attrNameLst>
                                          <p:attrName>style.visibility</p:attrName>
                                        </p:attrNameLst>
                                      </p:cBhvr>
                                      <p:to>
                                        <p:strVal val="visible"/>
                                      </p:to>
                                    </p:set>
                                    <p:anim calcmode="lin" valueType="num">
                                      <p:cBhvr>
                                        <p:cTn id="44" dur="500" fill="hold"/>
                                        <p:tgtEl>
                                          <p:spTgt spid="8"/>
                                        </p:tgtEl>
                                        <p:attrNameLst>
                                          <p:attrName>ppt_w</p:attrName>
                                        </p:attrNameLst>
                                      </p:cBhvr>
                                      <p:tavLst>
                                        <p:tav tm="0">
                                          <p:val>
                                            <p:fltVal val="0"/>
                                          </p:val>
                                        </p:tav>
                                        <p:tav tm="100000">
                                          <p:val>
                                            <p:strVal val="#ppt_w"/>
                                          </p:val>
                                        </p:tav>
                                      </p:tavLst>
                                    </p:anim>
                                    <p:anim calcmode="lin" valueType="num">
                                      <p:cBhvr>
                                        <p:cTn id="45" dur="500" fill="hold"/>
                                        <p:tgtEl>
                                          <p:spTgt spid="8"/>
                                        </p:tgtEl>
                                        <p:attrNameLst>
                                          <p:attrName>ppt_h</p:attrName>
                                        </p:attrNameLst>
                                      </p:cBhvr>
                                      <p:tavLst>
                                        <p:tav tm="0">
                                          <p:val>
                                            <p:fltVal val="0"/>
                                          </p:val>
                                        </p:tav>
                                        <p:tav tm="100000">
                                          <p:val>
                                            <p:strVal val="#ppt_h"/>
                                          </p:val>
                                        </p:tav>
                                      </p:tavLst>
                                    </p:anim>
                                    <p:animEffect transition="in" filter="fade">
                                      <p:cBhvr>
                                        <p:cTn id="46" dur="500"/>
                                        <p:tgtEl>
                                          <p:spTgt spid="8"/>
                                        </p:tgtEl>
                                      </p:cBhvr>
                                    </p:animEffect>
                                  </p:childTnLst>
                                </p:cTn>
                              </p:par>
                            </p:childTnLst>
                          </p:cTn>
                        </p:par>
                      </p:childTnLst>
                    </p:cTn>
                  </p:par>
                  <p:par>
                    <p:cTn id="47" fill="hold">
                      <p:stCondLst>
                        <p:cond delay="indefinite"/>
                      </p:stCondLst>
                      <p:childTnLst>
                        <p:par>
                          <p:cTn id="48" fill="hold">
                            <p:stCondLst>
                              <p:cond delay="0"/>
                            </p:stCondLst>
                            <p:childTnLst>
                              <p:par>
                                <p:cTn id="49" presetID="14" presetClass="entr" presetSubtype="10" fill="hold" grpId="0" nodeType="clickEffect">
                                  <p:stCondLst>
                                    <p:cond delay="0"/>
                                  </p:stCondLst>
                                  <p:childTnLst>
                                    <p:set>
                                      <p:cBhvr>
                                        <p:cTn id="50" dur="1" fill="hold">
                                          <p:stCondLst>
                                            <p:cond delay="0"/>
                                          </p:stCondLst>
                                        </p:cTn>
                                        <p:tgtEl>
                                          <p:spTgt spid="3">
                                            <p:txEl>
                                              <p:pRg st="0" end="0"/>
                                            </p:txEl>
                                          </p:spTgt>
                                        </p:tgtEl>
                                        <p:attrNameLst>
                                          <p:attrName>style.visibility</p:attrName>
                                        </p:attrNameLst>
                                      </p:cBhvr>
                                      <p:to>
                                        <p:strVal val="visible"/>
                                      </p:to>
                                    </p:set>
                                    <p:animEffect transition="in" filter="randombar(horizontal)">
                                      <p:cBhvr>
                                        <p:cTn id="51" dur="500"/>
                                        <p:tgtEl>
                                          <p:spTgt spid="3">
                                            <p:txEl>
                                              <p:pRg st="0" end="0"/>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4" presetClass="entr" presetSubtype="10" fill="hold" grpId="0" nodeType="clickEffect">
                                  <p:stCondLst>
                                    <p:cond delay="0"/>
                                  </p:stCondLst>
                                  <p:childTnLst>
                                    <p:set>
                                      <p:cBhvr>
                                        <p:cTn id="55" dur="1" fill="hold">
                                          <p:stCondLst>
                                            <p:cond delay="0"/>
                                          </p:stCondLst>
                                        </p:cTn>
                                        <p:tgtEl>
                                          <p:spTgt spid="9">
                                            <p:txEl>
                                              <p:pRg st="0" end="0"/>
                                            </p:txEl>
                                          </p:spTgt>
                                        </p:tgtEl>
                                        <p:attrNameLst>
                                          <p:attrName>style.visibility</p:attrName>
                                        </p:attrNameLst>
                                      </p:cBhvr>
                                      <p:to>
                                        <p:strVal val="visible"/>
                                      </p:to>
                                    </p:set>
                                    <p:animEffect transition="in" filter="randombar(horizontal)">
                                      <p:cBhvr>
                                        <p:cTn id="56"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P spid="7" grpId="0"/>
      <p:bldP spid="8" grpId="0"/>
      <p:bldP spid="3" grpId="0" build="p"/>
      <p:bldP spid="9"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843280" y="1946676"/>
            <a:ext cx="6431280" cy="3607987"/>
          </a:xfrm>
        </p:spPr>
        <p:txBody>
          <a:bodyPr>
            <a:normAutofit fontScale="62500" lnSpcReduction="20000"/>
          </a:bodyPr>
          <a:lstStyle/>
          <a:p>
            <a:pPr>
              <a:lnSpc>
                <a:spcPct val="150000"/>
              </a:lnSpc>
            </a:pPr>
            <a:r>
              <a:rPr lang="en-US" sz="2800" dirty="0"/>
              <a:t>Networks have many “doors” (ports) that allow communication.</a:t>
            </a:r>
          </a:p>
          <a:p>
            <a:pPr>
              <a:lnSpc>
                <a:spcPct val="150000"/>
              </a:lnSpc>
            </a:pPr>
            <a:r>
              <a:rPr lang="en-US" sz="2800" dirty="0"/>
              <a:t>Unmonitored open ports can become entry points for attackers.</a:t>
            </a:r>
          </a:p>
          <a:p>
            <a:pPr>
              <a:lnSpc>
                <a:spcPct val="150000"/>
              </a:lnSpc>
            </a:pPr>
            <a:r>
              <a:rPr lang="en-US" sz="2800" dirty="0"/>
              <a:t>Organizations often lack visibility into which ports are open and what services are running.</a:t>
            </a:r>
          </a:p>
          <a:p>
            <a:pPr>
              <a:lnSpc>
                <a:spcPct val="150000"/>
              </a:lnSpc>
            </a:pPr>
            <a:r>
              <a:rPr lang="en-US" sz="2800" dirty="0"/>
              <a:t>A Port Scanner helps identify these open doors, enabling administrators to secure them and reduce cyber risks.</a:t>
            </a:r>
          </a:p>
          <a:p>
            <a:pPr marL="0" indent="0">
              <a:lnSpc>
                <a:spcPct val="150000"/>
              </a:lnSpc>
              <a:buNone/>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1351280"/>
            <a:ext cx="6604001" cy="4165600"/>
          </a:xfrm>
        </p:spPr>
        <p:txBody>
          <a:bodyPr>
            <a:noAutofit/>
          </a:bodyPr>
          <a:lstStyle/>
          <a:p>
            <a:br>
              <a:rPr lang="en-US" sz="2000" dirty="0"/>
            </a:br>
            <a:r>
              <a:rPr lang="en-US" sz="2000" dirty="0"/>
              <a:t>The Network Port Scanner is a cybersecurity tool designed to identify open ports and the services running on them within a network. By scanning devices, it provides visibility into potential entry points that attackers could exploit. </a:t>
            </a:r>
            <a:br>
              <a:rPr lang="en-US" sz="2000" dirty="0"/>
            </a:br>
            <a:br>
              <a:rPr lang="en-US" sz="2000" dirty="0"/>
            </a:br>
            <a:r>
              <a:rPr lang="en-US" sz="2000" dirty="0"/>
              <a:t>The project aims to help administrators detect vulnerabilities, close unnecessary ports, and strengthen overall network security.</a:t>
            </a:r>
            <a:br>
              <a:rPr lang="en-US" sz="2000" dirty="0"/>
            </a:br>
            <a:r>
              <a:rPr lang="en-US" sz="2000" dirty="0"/>
              <a:t>This scanner acts as a proactive defense mechanism, ensuring that organizations can monitor their systems, reduce risks, and maintain a secure digital environment.</a:t>
            </a:r>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14A62431-FE1C-5CFB-8FFF-20D6DD59B889}"/>
              </a:ext>
            </a:extLst>
          </p:cNvPr>
          <p:cNvSpPr txBox="1"/>
          <p:nvPr/>
        </p:nvSpPr>
        <p:spPr>
          <a:xfrm>
            <a:off x="660399" y="704949"/>
            <a:ext cx="5618480" cy="646331"/>
          </a:xfrm>
          <a:prstGeom prst="rect">
            <a:avLst/>
          </a:prstGeom>
          <a:noFill/>
        </p:spPr>
        <p:txBody>
          <a:bodyPr wrap="square" rtlCol="0">
            <a:spAutoFit/>
          </a:bodyPr>
          <a:lstStyle/>
          <a:p>
            <a:r>
              <a:rPr lang="en-US" sz="3600" dirty="0"/>
              <a:t>Project Description</a:t>
            </a:r>
            <a:endParaRPr lang="en-IN" sz="36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0CB23A2B-8121-DE59-502D-1921534BD43E}"/>
              </a:ext>
            </a:extLst>
          </p:cNvPr>
          <p:cNvSpPr>
            <a:spLocks noGrp="1" noChangeArrowheads="1"/>
          </p:cNvSpPr>
          <p:nvPr>
            <p:ph type="body" sz="quarter" idx="12"/>
          </p:nvPr>
        </p:nvSpPr>
        <p:spPr bwMode="auto">
          <a:xfrm>
            <a:off x="537845" y="1997839"/>
            <a:ext cx="8768715"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System Administrators – to monitor and secure organizational networks.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5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Cybersecurity Professionals – to detect vulnerabilities and strengthen defenses.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IT Support Teams – to troubleshoot connectivity and service issues.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Students &amp; Researchers – to learn and practice network security concepts.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i="0" u="none" strike="noStrike" cap="none" normalizeH="0" baseline="0" dirty="0">
                <a:ln>
                  <a:noFill/>
                </a:ln>
                <a:solidFill>
                  <a:schemeClr val="tx1"/>
                </a:solidFill>
                <a:effectLst/>
                <a:latin typeface="Arial" panose="020B0604020202020204" pitchFamily="34" charset="0"/>
              </a:rPr>
              <a:t>Small &amp; Medium Businesses – to gain visibility into their network without expensive tools.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0" y="3999423"/>
            <a:ext cx="1727200" cy="2858577"/>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Rectangle 1">
            <a:extLst>
              <a:ext uri="{FF2B5EF4-FFF2-40B4-BE49-F238E27FC236}">
                <a16:creationId xmlns:a16="http://schemas.microsoft.com/office/drawing/2014/main" id="{FEA32812-4C76-5E60-AFD3-2A88457E0B40}"/>
              </a:ext>
            </a:extLst>
          </p:cNvPr>
          <p:cNvSpPr>
            <a:spLocks noGrp="1" noChangeArrowheads="1"/>
          </p:cNvSpPr>
          <p:nvPr>
            <p:ph type="body" sz="quarter" idx="12"/>
          </p:nvPr>
        </p:nvSpPr>
        <p:spPr bwMode="auto">
          <a:xfrm>
            <a:off x="772159" y="1382827"/>
            <a:ext cx="813876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Programming Language:</a:t>
            </a:r>
            <a:r>
              <a:rPr kumimoji="0" lang="en-US" altLang="en-US" sz="1800" b="0" i="0" u="none" strike="noStrike" cap="none" normalizeH="0" baseline="0" dirty="0">
                <a:ln>
                  <a:noFill/>
                </a:ln>
                <a:solidFill>
                  <a:schemeClr val="tx1"/>
                </a:solidFill>
                <a:effectLst/>
                <a:latin typeface="Arial" panose="020B0604020202020204" pitchFamily="34" charset="0"/>
              </a:rPr>
              <a:t> Python (for socket programming and automation)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Libraries/Modules:</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Unicode MS"/>
              </a:rPr>
              <a:t>socket</a:t>
            </a:r>
            <a:r>
              <a:rPr kumimoji="0" lang="en-US" altLang="en-US" sz="1100" b="0" i="0" u="none" strike="noStrike" cap="none" normalizeH="0" baseline="0" dirty="0">
                <a:ln>
                  <a:noFill/>
                </a:ln>
                <a:solidFill>
                  <a:schemeClr val="tx1"/>
                </a:solidFill>
                <a:effectLst/>
              </a:rPr>
              <a:t> – to establish connections and scan ports</a:t>
            </a:r>
            <a:r>
              <a:rPr kumimoji="0" lang="en-US" altLang="en-US" sz="3200" b="0" i="0" u="none" strike="noStrike" cap="none" normalizeH="0" baseline="0" dirty="0">
                <a:ln>
                  <a:noFill/>
                </a:ln>
                <a:solidFill>
                  <a:schemeClr val="tx1"/>
                </a:solidFill>
                <a:effectLst/>
                <a:latin typeface="Arial" panose="020B0604020202020204" pitchFamily="34" charset="0"/>
              </a:rPr>
              <a:t> </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a:ln>
                  <a:noFill/>
                </a:ln>
                <a:solidFill>
                  <a:schemeClr val="tx1"/>
                </a:solidFill>
                <a:effectLst/>
                <a:latin typeface="Arial Unicode MS"/>
              </a:rPr>
              <a:t>threading</a:t>
            </a:r>
            <a:r>
              <a:rPr kumimoji="0" lang="en-US" altLang="en-US" sz="1100" b="0" i="0" u="none" strike="noStrike" cap="none" normalizeH="0" baseline="0" dirty="0">
                <a:ln>
                  <a:noFill/>
                </a:ln>
                <a:solidFill>
                  <a:schemeClr val="tx1"/>
                </a:solidFill>
                <a:effectLst/>
              </a:rPr>
              <a:t> – for faster, parallel scanning</a:t>
            </a:r>
            <a:r>
              <a:rPr kumimoji="0" lang="en-US" altLang="en-US" sz="3200" b="0" i="0" u="none" strike="noStrike" cap="none" normalizeH="0" baseline="0" dirty="0">
                <a:ln>
                  <a:noFill/>
                </a:ln>
                <a:solidFill>
                  <a:schemeClr val="tx1"/>
                </a:solidFill>
                <a:effectLst/>
                <a:latin typeface="Arial" panose="020B0604020202020204" pitchFamily="34" charset="0"/>
              </a:rPr>
              <a:t> </a:t>
            </a:r>
          </a:p>
          <a:p>
            <a:pPr marL="457200" marR="0" lvl="1" indent="0" defTabSz="914400" rtl="0" eaLnBrk="0" fontAlgn="base" latinLnBrk="0" hangingPunct="0">
              <a:lnSpc>
                <a:spcPct val="100000"/>
              </a:lnSpc>
              <a:spcBef>
                <a:spcPct val="0"/>
              </a:spcBef>
              <a:spcAft>
                <a:spcPct val="0"/>
              </a:spcAft>
              <a:buClrTx/>
              <a:buSzTx/>
              <a:buFontTx/>
              <a:buChar char="•"/>
              <a:tabLst/>
            </a:pPr>
            <a:r>
              <a:rPr kumimoji="0" lang="en-US" altLang="en-US" sz="1400" b="0" i="0" u="none" strike="noStrike" cap="none" normalizeH="0" baseline="0" dirty="0" err="1">
                <a:ln>
                  <a:noFill/>
                </a:ln>
                <a:solidFill>
                  <a:schemeClr val="tx1"/>
                </a:solidFill>
                <a:effectLst/>
                <a:latin typeface="Arial Unicode MS"/>
              </a:rPr>
              <a:t>argparse</a:t>
            </a:r>
            <a:r>
              <a:rPr kumimoji="0" lang="en-US" altLang="en-US" sz="1100" b="0" i="0" u="none" strike="noStrike" cap="none" normalizeH="0" baseline="0" dirty="0">
                <a:ln>
                  <a:noFill/>
                </a:ln>
                <a:solidFill>
                  <a:schemeClr val="tx1"/>
                </a:solidFill>
                <a:effectLst/>
              </a:rPr>
              <a:t> – for command-line input handling</a:t>
            </a:r>
            <a:r>
              <a:rPr kumimoji="0" lang="en-US" altLang="en-US" sz="32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Operating System:</a:t>
            </a:r>
            <a:r>
              <a:rPr kumimoji="0" lang="en-US" altLang="en-US" sz="1800" b="0" i="0" u="none" strike="noStrike" cap="none" normalizeH="0" baseline="0" dirty="0">
                <a:ln>
                  <a:noFill/>
                </a:ln>
                <a:solidFill>
                  <a:schemeClr val="tx1"/>
                </a:solidFill>
                <a:effectLst/>
                <a:latin typeface="Arial" panose="020B0604020202020204" pitchFamily="34" charset="0"/>
              </a:rPr>
              <a:t> Works on Windows/Linux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Networking Concepts:</a:t>
            </a:r>
            <a:r>
              <a:rPr kumimoji="0" lang="en-US" altLang="en-US" sz="1800" b="0" i="0" u="none" strike="noStrike" cap="none" normalizeH="0" baseline="0" dirty="0">
                <a:ln>
                  <a:noFill/>
                </a:ln>
                <a:solidFill>
                  <a:schemeClr val="tx1"/>
                </a:solidFill>
                <a:effectLst/>
                <a:latin typeface="Arial" panose="020B0604020202020204" pitchFamily="34" charset="0"/>
              </a:rPr>
              <a:t> TCP/IP protocols, port communication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08715"/>
            <a:ext cx="2981643" cy="859726"/>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3" name="Text Placeholder 2">
            <a:extLst>
              <a:ext uri="{FF2B5EF4-FFF2-40B4-BE49-F238E27FC236}">
                <a16:creationId xmlns:a16="http://schemas.microsoft.com/office/drawing/2014/main" id="{1F6F860E-3535-12CB-3499-39F930F4164A}"/>
              </a:ext>
            </a:extLst>
          </p:cNvPr>
          <p:cNvSpPr>
            <a:spLocks noGrp="1"/>
          </p:cNvSpPr>
          <p:nvPr>
            <p:ph type="body" sz="quarter" idx="12"/>
          </p:nvPr>
        </p:nvSpPr>
        <p:spPr>
          <a:xfrm>
            <a:off x="660400" y="2044700"/>
            <a:ext cx="6522720" cy="3560763"/>
          </a:xfrm>
        </p:spPr>
        <p:txBody>
          <a:bodyPr/>
          <a:lstStyle/>
          <a:p>
            <a:endParaRPr lang="en-IN" dirty="0"/>
          </a:p>
        </p:txBody>
      </p:sp>
      <p:pic>
        <p:nvPicPr>
          <p:cNvPr id="11" name="Picture 10" descr="A screenshot of a computer program&#10;&#10;AI-generated content may be incorrect.">
            <a:extLst>
              <a:ext uri="{FF2B5EF4-FFF2-40B4-BE49-F238E27FC236}">
                <a16:creationId xmlns:a16="http://schemas.microsoft.com/office/drawing/2014/main" id="{D4A5A140-6E99-C8B8-8FB5-FD4F678869C0}"/>
              </a:ext>
            </a:extLst>
          </p:cNvPr>
          <p:cNvPicPr>
            <a:picLocks noChangeAspect="1"/>
          </p:cNvPicPr>
          <p:nvPr/>
        </p:nvPicPr>
        <p:blipFill>
          <a:blip r:embed="rId4"/>
          <a:stretch>
            <a:fillRect/>
          </a:stretch>
        </p:blipFill>
        <p:spPr>
          <a:xfrm>
            <a:off x="660400" y="1237297"/>
            <a:ext cx="8558481" cy="4680787"/>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9" y="5737443"/>
            <a:ext cx="2981643"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extLst>
                    <a:ext uri="{A12FA001-AC4F-418D-AE19-62706E023703}">
                      <ahyp:hlinkClr xmlns:ahyp="http://schemas.microsoft.com/office/drawing/2018/hyperlinkcolor" val="tx"/>
                    </a:ext>
                  </a:extLst>
                </a:hlinkClick>
              </a:rPr>
              <a:t>Demo Link</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07164" y="1431693"/>
            <a:ext cx="4275138" cy="477520"/>
          </a:xfrm>
        </p:spPr>
        <p:txBody>
          <a:bodyPr/>
          <a:lstStyle/>
          <a:p>
            <a:pPr marL="0" indent="0">
              <a:buNone/>
            </a:pPr>
            <a:r>
              <a:rPr lang="en-US" dirty="0"/>
              <a:t>[Add screen shots of your code ]</a:t>
            </a:r>
            <a:endParaRPr lang="en-IN" dirty="0"/>
          </a:p>
        </p:txBody>
      </p:sp>
      <p:pic>
        <p:nvPicPr>
          <p:cNvPr id="3" name="Picture 2" descr="A computer screen shot of a black screen&#10;&#10;AI-generated content may be incorrect.">
            <a:extLst>
              <a:ext uri="{FF2B5EF4-FFF2-40B4-BE49-F238E27FC236}">
                <a16:creationId xmlns:a16="http://schemas.microsoft.com/office/drawing/2014/main" id="{EF857D9A-3614-8B0A-183E-FCCFCA47570D}"/>
              </a:ext>
            </a:extLst>
          </p:cNvPr>
          <p:cNvPicPr>
            <a:picLocks noChangeAspect="1"/>
          </p:cNvPicPr>
          <p:nvPr/>
        </p:nvPicPr>
        <p:blipFill>
          <a:blip r:embed="rId4"/>
          <a:stretch>
            <a:fillRect/>
          </a:stretch>
        </p:blipFill>
        <p:spPr>
          <a:xfrm>
            <a:off x="904240" y="1238653"/>
            <a:ext cx="8199120" cy="4704947"/>
          </a:xfrm>
          <a:prstGeom prst="rect">
            <a:avLst/>
          </a:prstGeom>
        </p:spPr>
      </p:pic>
    </p:spTree>
    <p:extLst>
      <p:ext uri="{BB962C8B-B14F-4D97-AF65-F5344CB8AC3E}">
        <p14:creationId xmlns:p14="http://schemas.microsoft.com/office/powerpoint/2010/main" val="289115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Protection from browser attacks</a:t>
            </a:r>
            <a:r>
              <a:rPr lang="en-GB" b="1" dirty="0">
                <a:solidFill>
                  <a:schemeClr val="tx1"/>
                </a:solidFill>
              </a:rPr>
              <a:t> </a:t>
            </a:r>
            <a:endParaRPr lang="en-IN" b="1" dirty="0">
              <a:solidFill>
                <a:schemeClr val="tx1"/>
              </a:solidFill>
            </a:endParaRPr>
          </a:p>
        </p:txBody>
      </p:sp>
      <p:pic>
        <p:nvPicPr>
          <p:cNvPr id="3" name="Picture 2" descr="A certificate of completion with a red ribbon and a red seal">
            <a:extLst>
              <a:ext uri="{FF2B5EF4-FFF2-40B4-BE49-F238E27FC236}">
                <a16:creationId xmlns:a16="http://schemas.microsoft.com/office/drawing/2014/main" id="{BE04F6FB-88E4-632E-2FD6-B426F89D5047}"/>
              </a:ext>
            </a:extLst>
          </p:cNvPr>
          <p:cNvPicPr>
            <a:picLocks noChangeAspect="1"/>
          </p:cNvPicPr>
          <p:nvPr/>
        </p:nvPicPr>
        <p:blipFill>
          <a:blip r:embed="rId2"/>
          <a:stretch>
            <a:fillRect/>
          </a:stretch>
        </p:blipFill>
        <p:spPr>
          <a:xfrm>
            <a:off x="1056641" y="1219200"/>
            <a:ext cx="7406640" cy="4958080"/>
          </a:xfrm>
          <a:prstGeom prst="rect">
            <a:avLst/>
          </a:prstGeom>
        </p:spPr>
      </p:pic>
    </p:spTree>
    <p:extLst>
      <p:ext uri="{BB962C8B-B14F-4D97-AF65-F5344CB8AC3E}">
        <p14:creationId xmlns:p14="http://schemas.microsoft.com/office/powerpoint/2010/main" val="1859795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3">
            <a:extLst>
              <a:ext uri="{FF2B5EF4-FFF2-40B4-BE49-F238E27FC236}">
                <a16:creationId xmlns:a16="http://schemas.microsoft.com/office/drawing/2014/main" id="{AFE3A2AF-177E-45E6-A191-0F8523DB7FFA}"/>
              </a:ext>
            </a:extLst>
          </p:cNvPr>
          <p:cNvSpPr txBox="1">
            <a:spLocks/>
          </p:cNvSpPr>
          <p:nvPr/>
        </p:nvSpPr>
        <p:spPr>
          <a:xfrm>
            <a:off x="131010" y="601498"/>
            <a:ext cx="8671243" cy="830997"/>
          </a:xfrm>
          <a:prstGeom prst="rect">
            <a:avLst/>
          </a:prstGeom>
        </p:spPr>
        <p:txBody>
          <a:bodyPr>
            <a:normAutofit fontScale="85000" lnSpcReduction="10000"/>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Certificate - Introduction to System Security</a:t>
            </a:r>
          </a:p>
        </p:txBody>
      </p:sp>
      <p:pic>
        <p:nvPicPr>
          <p:cNvPr id="3" name="Picture 2" descr="A certificate of completion with red text and a red ribbon&#10;&#10;AI-generated content may be incorrect.">
            <a:extLst>
              <a:ext uri="{FF2B5EF4-FFF2-40B4-BE49-F238E27FC236}">
                <a16:creationId xmlns:a16="http://schemas.microsoft.com/office/drawing/2014/main" id="{DDC5AE19-AA06-1B1B-551D-F1E1FB4143CF}"/>
              </a:ext>
            </a:extLst>
          </p:cNvPr>
          <p:cNvPicPr>
            <a:picLocks noChangeAspect="1"/>
          </p:cNvPicPr>
          <p:nvPr/>
        </p:nvPicPr>
        <p:blipFill>
          <a:blip r:embed="rId2"/>
          <a:stretch>
            <a:fillRect/>
          </a:stretch>
        </p:blipFill>
        <p:spPr>
          <a:xfrm>
            <a:off x="1026160" y="1158240"/>
            <a:ext cx="7518400" cy="4937760"/>
          </a:xfrm>
          <a:prstGeom prst="rect">
            <a:avLst/>
          </a:prstGeom>
        </p:spPr>
      </p:pic>
    </p:spTree>
    <p:extLst>
      <p:ext uri="{BB962C8B-B14F-4D97-AF65-F5344CB8AC3E}">
        <p14:creationId xmlns:p14="http://schemas.microsoft.com/office/powerpoint/2010/main" val="2754512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D57F1E4F-1CFF-5643-939E-217C01CDF565}" type="slidenum">
              <a:rPr lang="en-US" smtClean="0"/>
              <a:pPr/>
              <a:t>10</a:t>
            </a:fld>
            <a:endParaRPr lang="en-US" dirty="0"/>
          </a:p>
        </p:txBody>
      </p:sp>
      <p:sp>
        <p:nvSpPr>
          <p:cNvPr id="3" name="Title 3">
            <a:extLst>
              <a:ext uri="{FF2B5EF4-FFF2-40B4-BE49-F238E27FC236}">
                <a16:creationId xmlns:a16="http://schemas.microsoft.com/office/drawing/2014/main" id="{AFE3A2AF-177E-45E6-A191-0F8523DB7FFA}"/>
              </a:ext>
            </a:extLst>
          </p:cNvPr>
          <p:cNvSpPr txBox="1">
            <a:spLocks/>
          </p:cNvSpPr>
          <p:nvPr/>
        </p:nvSpPr>
        <p:spPr>
          <a:xfrm>
            <a:off x="371155" y="583026"/>
            <a:ext cx="8671243" cy="830997"/>
          </a:xfrm>
          <a:prstGeom prst="rect">
            <a:avLst/>
          </a:prstGeom>
        </p:spPr>
        <p:txBody>
          <a:bodyPr>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b="1" dirty="0">
                <a:solidFill>
                  <a:schemeClr val="tx1"/>
                </a:solidFill>
              </a:rPr>
              <a:t>GitHub link</a:t>
            </a:r>
          </a:p>
        </p:txBody>
      </p:sp>
      <p:sp>
        <p:nvSpPr>
          <p:cNvPr id="4" name="TextBox 3">
            <a:extLst>
              <a:ext uri="{FF2B5EF4-FFF2-40B4-BE49-F238E27FC236}">
                <a16:creationId xmlns:a16="http://schemas.microsoft.com/office/drawing/2014/main" id="{BD6A55FF-5766-299C-E4B1-229CA15CF67F}"/>
              </a:ext>
            </a:extLst>
          </p:cNvPr>
          <p:cNvSpPr txBox="1"/>
          <p:nvPr/>
        </p:nvSpPr>
        <p:spPr>
          <a:xfrm>
            <a:off x="1117600" y="2346960"/>
            <a:ext cx="6156960" cy="369332"/>
          </a:xfrm>
          <a:prstGeom prst="rect">
            <a:avLst/>
          </a:prstGeom>
          <a:noFill/>
        </p:spPr>
        <p:txBody>
          <a:bodyPr wrap="square" rtlCol="0">
            <a:spAutoFit/>
          </a:bodyPr>
          <a:lstStyle/>
          <a:p>
            <a:r>
              <a:rPr lang="en-IN" dirty="0"/>
              <a:t>https://github.com/Rajeevreddy-git/NetworkScanner.git</a:t>
            </a:r>
          </a:p>
        </p:txBody>
      </p:sp>
    </p:spTree>
    <p:extLst>
      <p:ext uri="{BB962C8B-B14F-4D97-AF65-F5344CB8AC3E}">
        <p14:creationId xmlns:p14="http://schemas.microsoft.com/office/powerpoint/2010/main" val="3563231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purl.org/dc/elements/1.1/"/>
    <ds:schemaRef ds:uri="16c05727-aa75-4e4a-9b5f-8a80a1165891"/>
    <ds:schemaRef ds:uri="http://schemas.microsoft.com/office/2006/metadata/properties"/>
    <ds:schemaRef ds:uri="http://purl.org/dc/terms/"/>
    <ds:schemaRef ds:uri="71af3243-3dd4-4a8d-8c0d-dd76da1f02a5"/>
    <ds:schemaRef ds:uri="http://purl.org/dc/dcmitype/"/>
    <ds:schemaRef ds:uri="http://www.w3.org/XML/1998/namespace"/>
    <ds:schemaRef ds:uri="http://schemas.microsoft.com/office/2006/documentManagement/types"/>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Facet</Template>
  <TotalTime>593</TotalTime>
  <Words>333</Words>
  <Application>Microsoft Office PowerPoint</Application>
  <PresentationFormat>Widescreen</PresentationFormat>
  <Paragraphs>45</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Arial Unicode MS</vt:lpstr>
      <vt:lpstr>Calibri</vt:lpstr>
      <vt:lpstr>Trebuchet MS</vt:lpstr>
      <vt:lpstr>Wingdings</vt:lpstr>
      <vt:lpstr>Wingdings 3</vt:lpstr>
      <vt:lpstr>Facet</vt:lpstr>
      <vt:lpstr>Project Title - Network Port Scanner</vt:lpstr>
      <vt:lpstr>PROBLEM  STATEMENT</vt:lpstr>
      <vt:lpstr> The Network Port Scanner is a cybersecurity tool designed to identify open ports and the services running on them within a network. By scanning devices, it provides visibility into potential entry points that attackers could exploit.   The project aims to help administrators detect vulnerabilities, close unnecessary ports, and strengthen overall network security. This scanner acts as a proactive defense mechanism, ensuring that organizations can monitor their systems, reduce risks, and maintain a secure digital environment.</vt:lpstr>
      <vt:lpstr>WHO ARE THE END USERS?</vt:lpstr>
      <vt:lpstr>Technology Used</vt:lpstr>
      <vt:lpstr>RESULTS </vt:lpstr>
      <vt:lpstr>RESULTS </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Srivani Eeranaguru</cp:lastModifiedBy>
  <cp:revision>81</cp:revision>
  <dcterms:created xsi:type="dcterms:W3CDTF">2021-07-11T13:13:15Z</dcterms:created>
  <dcterms:modified xsi:type="dcterms:W3CDTF">2026-03-30T12:31:58Z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